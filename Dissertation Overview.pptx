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pparla, Dharan Teja" userId="b2109a61-7647-4972-b879-7fc81deab395" providerId="ADAL" clId="{8FF450DD-1AF6-4DAB-8842-3D06ADDF83D4}"/>
    <pc:docChg chg="undo custSel modSld sldOrd">
      <pc:chgData name="Vipparla, Dharan Teja" userId="b2109a61-7647-4972-b879-7fc81deab395" providerId="ADAL" clId="{8FF450DD-1AF6-4DAB-8842-3D06ADDF83D4}" dt="2026-06-16T13:31:26.972" v="141" actId="20577"/>
      <pc:docMkLst>
        <pc:docMk/>
      </pc:docMkLst>
      <pc:sldChg chg="modSp mod">
        <pc:chgData name="Vipparla, Dharan Teja" userId="b2109a61-7647-4972-b879-7fc81deab395" providerId="ADAL" clId="{8FF450DD-1AF6-4DAB-8842-3D06ADDF83D4}" dt="2026-06-16T13:31:26.972" v="141" actId="20577"/>
        <pc:sldMkLst>
          <pc:docMk/>
          <pc:sldMk cId="0" sldId="257"/>
        </pc:sldMkLst>
        <pc:spChg chg="mod">
          <ac:chgData name="Vipparla, Dharan Teja" userId="b2109a61-7647-4972-b879-7fc81deab395" providerId="ADAL" clId="{8FF450DD-1AF6-4DAB-8842-3D06ADDF83D4}" dt="2026-06-16T13:31:26.972" v="14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Vipparla, Dharan Teja" userId="b2109a61-7647-4972-b879-7fc81deab395" providerId="ADAL" clId="{8FF450DD-1AF6-4DAB-8842-3D06ADDF83D4}" dt="2026-06-16T12:26:59.301" v="102" actId="20577"/>
        <pc:sldMkLst>
          <pc:docMk/>
          <pc:sldMk cId="0" sldId="258"/>
        </pc:sldMkLst>
        <pc:spChg chg="mod">
          <ac:chgData name="Vipparla, Dharan Teja" userId="b2109a61-7647-4972-b879-7fc81deab395" providerId="ADAL" clId="{8FF450DD-1AF6-4DAB-8842-3D06ADDF83D4}" dt="2026-06-16T12:26:59.301" v="102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Vipparla, Dharan Teja" userId="b2109a61-7647-4972-b879-7fc81deab395" providerId="ADAL" clId="{8FF450DD-1AF6-4DAB-8842-3D06ADDF83D4}" dt="2026-06-16T12:27:08.693" v="109" actId="20577"/>
        <pc:sldMkLst>
          <pc:docMk/>
          <pc:sldMk cId="0" sldId="259"/>
        </pc:sldMkLst>
        <pc:spChg chg="mod">
          <ac:chgData name="Vipparla, Dharan Teja" userId="b2109a61-7647-4972-b879-7fc81deab395" providerId="ADAL" clId="{8FF450DD-1AF6-4DAB-8842-3D06ADDF83D4}" dt="2026-06-16T12:27:08.693" v="109" actId="20577"/>
          <ac:spMkLst>
            <pc:docMk/>
            <pc:sldMk cId="0" sldId="259"/>
            <ac:spMk id="3" creationId="{00000000-0000-0000-0000-000000000000}"/>
          </ac:spMkLst>
        </pc:spChg>
      </pc:sldChg>
      <pc:sldChg chg="ord">
        <pc:chgData name="Vipparla, Dharan Teja" userId="b2109a61-7647-4972-b879-7fc81deab395" providerId="ADAL" clId="{8FF450DD-1AF6-4DAB-8842-3D06ADDF83D4}" dt="2026-06-16T12:25:29.072" v="1"/>
        <pc:sldMkLst>
          <pc:docMk/>
          <pc:sldMk cId="0" sldId="260"/>
        </pc:sldMkLst>
      </pc:sldChg>
      <pc:sldChg chg="delSp modSp mod">
        <pc:chgData name="Vipparla, Dharan Teja" userId="b2109a61-7647-4972-b879-7fc81deab395" providerId="ADAL" clId="{8FF450DD-1AF6-4DAB-8842-3D06ADDF83D4}" dt="2026-06-16T12:27:24.215" v="111" actId="6549"/>
        <pc:sldMkLst>
          <pc:docMk/>
          <pc:sldMk cId="0" sldId="261"/>
        </pc:sldMkLst>
        <pc:spChg chg="mod">
          <ac:chgData name="Vipparla, Dharan Teja" userId="b2109a61-7647-4972-b879-7fc81deab395" providerId="ADAL" clId="{8FF450DD-1AF6-4DAB-8842-3D06ADDF83D4}" dt="2026-06-16T12:27:24.215" v="111" actId="6549"/>
          <ac:spMkLst>
            <pc:docMk/>
            <pc:sldMk cId="0" sldId="261"/>
            <ac:spMk id="17" creationId="{00000000-0000-0000-0000-000000000000}"/>
          </ac:spMkLst>
        </pc:spChg>
        <pc:spChg chg="del">
          <ac:chgData name="Vipparla, Dharan Teja" userId="b2109a61-7647-4972-b879-7fc81deab395" providerId="ADAL" clId="{8FF450DD-1AF6-4DAB-8842-3D06ADDF83D4}" dt="2026-06-16T12:27:19.459" v="110" actId="478"/>
          <ac:spMkLst>
            <pc:docMk/>
            <pc:sldMk cId="0" sldId="261"/>
            <ac:spMk id="18" creationId="{00000000-0000-0000-0000-000000000000}"/>
          </ac:spMkLst>
        </pc:spChg>
      </pc:sldChg>
      <pc:sldChg chg="modSp mod">
        <pc:chgData name="Vipparla, Dharan Teja" userId="b2109a61-7647-4972-b879-7fc81deab395" providerId="ADAL" clId="{8FF450DD-1AF6-4DAB-8842-3D06ADDF83D4}" dt="2026-06-16T12:25:44.223" v="3" actId="1076"/>
        <pc:sldMkLst>
          <pc:docMk/>
          <pc:sldMk cId="0" sldId="262"/>
        </pc:sldMkLst>
        <pc:spChg chg="mod">
          <ac:chgData name="Vipparla, Dharan Teja" userId="b2109a61-7647-4972-b879-7fc81deab395" providerId="ADAL" clId="{8FF450DD-1AF6-4DAB-8842-3D06ADDF83D4}" dt="2026-06-16T12:25:44.223" v="3" actId="1076"/>
          <ac:spMkLst>
            <pc:docMk/>
            <pc:sldMk cId="0" sldId="262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5782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Diffusion Models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Precipitation Nowcasting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Dharan Teja Vipparla   ·   MSc Dissertation   ·   Supervisor discussion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Nowcasting</a:t>
            </a: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forecasting rainfall 0–6 hours ahead from recent radar observations.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Advection</a:t>
            </a: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movement of rain across the map by </a:t>
            </a: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</a:t>
            </a: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method that estimates the motion field, which way each pixel is moving  from past frames.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Lagrangian persistence</a:t>
            </a: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each rain parcel keeps its value and only moves with the wind; the basis of classical nowcasting.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Semi-Lagrangian</a:t>
            </a: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scheme that pushes the latest rain field forward along the motion field to make a forecast.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advection misses: growth, decay, and fine detail. This is what the diffusion model learns.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existing models approach 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backbones</a:t>
            </a: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learn from data and get a mean motion trend.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GAN – DGMR</a:t>
            </a: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sharp, probabilistic ensembles; but no explicit physics.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physics – </a:t>
            </a:r>
            <a:r>
              <a:rPr lang="en-US" sz="17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NowcastNet</a:t>
            </a: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adds a learned advection / evolution network before generation.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conditional input – </a:t>
            </a:r>
            <a:r>
              <a:rPr lang="en-US" sz="17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SATcast</a:t>
            </a: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NWP / FuXi physical variables as extra conditioning.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diffusion - CorrDiff, </a:t>
            </a:r>
            <a:r>
              <a:rPr lang="en-US" sz="17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DiffCast</a:t>
            </a: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deterministic first guess + diffusion adds the missing detail.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methods across models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45262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Family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Core architecture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or residual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training signal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CorrDiff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Score-based (EDM)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UNet regression (mean) + EDM diffusion (residual)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Residual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Regression MSE + EDM denoising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LDM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DDPM/EDM in latent space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Pretrained VAE + latent diffusion + decoder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Full latent field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Reconstruction + latent denoising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DGMR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Conditional GAN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ConvGRU generator + spatial &amp; temporal discriminators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Full field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Adversarial (2 D's) + grid-cell reg.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NowcastNet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Physics + cGAN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Evolution network (advection) + generative net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Full field (physics-cond.)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Evolution + adversarial + pool reg.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PreDiff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Latent diffusion (DDPM)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Frame VAE + Earthformer-UNet + knowledge align.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Full latent field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Latent ε-MSE + knowledge-align loss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DiffCast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Residual diffusion (DDPM)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Deterministic backbone + Global Temporal UNet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Residual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Deterministic + denoising (end-to-end)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SATcast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Cascade diffusion (DDPM)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2-phase U-Net2D + ConvNeXt + self-attention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Full field (multimodal)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Smooth-L1 denoising + CFG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DDMS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Hybrid diffusion (DDPM)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ConvGRU predictor + temporal diffusion + detector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Residual (difference)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MAE + diffusion + co-adversarial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prescribed (non-learned) semi-Lagrangian advection as the physical first guess.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conditional diffusion model learns only the residual (growth, decay, fine detail).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is prescribed and interpretable. 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learned, unlike NowcastNet.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4023360"/>
            <a:ext cx="292608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Advection prior</a:t>
            </a:r>
            <a:endParaRPr lang="en-US" sz="1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(physics first guess)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749040" y="4023360"/>
            <a:ext cx="640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66666"/>
                </a:solidFill>
              </a:rPr>
              <a:t>+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389120" y="4023360"/>
            <a:ext cx="292608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0" y="40233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residual</a:t>
            </a:r>
            <a:endParaRPr lang="en-US" sz="1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(growth, decay, detail)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0" y="4023360"/>
            <a:ext cx="640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66666"/>
                </a:solidFill>
              </a:rPr>
              <a:t>=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955280" y="4023360"/>
            <a:ext cx="2926080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955280" y="40233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nowcast</a:t>
            </a:r>
            <a:endParaRPr lang="en-US" sz="1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(sharp, probabilistic)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737360" y="1508760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7373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2468880" cy="1828800"/>
          </a:xfrm>
          <a:prstGeom prst="rect">
            <a:avLst/>
          </a:prstGeom>
          <a:solidFill>
            <a:srgbClr val="EEF3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91840" y="2377440"/>
            <a:ext cx="411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66666"/>
                </a:solidFill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617720" y="1508760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177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703320" y="2377440"/>
            <a:ext cx="2468880" cy="1828800"/>
          </a:xfrm>
          <a:prstGeom prst="rect">
            <a:avLst/>
          </a:prstGeom>
          <a:solidFill>
            <a:srgbClr val="EEF3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03320" y="23774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Advection prior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2200" y="2377440"/>
            <a:ext cx="411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66666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498080" y="1508760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49808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583680" y="2377440"/>
            <a:ext cx="2468880" cy="1828800"/>
          </a:xfrm>
          <a:prstGeom prst="rect">
            <a:avLst/>
          </a:prstGeom>
          <a:solidFill>
            <a:srgbClr val="EEF3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0" y="23774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prediction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(diffusion)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52560" y="2377440"/>
            <a:ext cx="411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37844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464040" y="2377440"/>
            <a:ext cx="2468880" cy="1828800"/>
          </a:xfrm>
          <a:prstGeom prst="rect">
            <a:avLst/>
          </a:prstGeom>
          <a:solidFill>
            <a:srgbClr val="EEF3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464040" y="23774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CorrDiff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first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workflows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566160" cy="5486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566160" cy="4023360"/>
          </a:xfrm>
          <a:prstGeom prst="rect">
            <a:avLst/>
          </a:prstGeom>
          <a:solidFill>
            <a:srgbClr val="EEF3F8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Load ODIM HDF5 radar frames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Mask nodata; undetect → 0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Build sequences (4 in → 12 out)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256×256 patches; time-based split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1417320"/>
            <a:ext cx="3566160" cy="5486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206240" y="1417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Advection prior (pysteps)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06240" y="1965960"/>
            <a:ext cx="3566160" cy="4023360"/>
          </a:xfrm>
          <a:prstGeom prst="rect">
            <a:avLst/>
          </a:prstGeom>
          <a:solidFill>
            <a:srgbClr val="EEF3F8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343400" y="214884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Log-transform rain → dBR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Optical flow (Lucas–Kanade) → motion field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Semi-Lagrangian extrapolate → prior A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Residual r = y − A; cache A, 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3566160" cy="5486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955280" y="1417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CorrDiff approach (EDM)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55280" y="1965960"/>
            <a:ext cx="3566160" cy="4023360"/>
          </a:xfrm>
          <a:prstGeom prst="rect">
            <a:avLst/>
          </a:prstGeom>
          <a:solidFill>
            <a:srgbClr val="EEF3F8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92440" y="214884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Base = advection prior A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Target residual r = y − A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Train EDM UNet on r | (past frames, A)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Sample residual → ŷ = A + r (ensemble)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619</Words>
  <Application>Microsoft Office PowerPoint</Application>
  <PresentationFormat>Widescreen</PresentationFormat>
  <Paragraphs>110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Dissertation Overview</dc:title>
  <dc:subject>PptxGenJS Presentation</dc:subject>
  <dc:creator>Dharan Teja Vipparla</dc:creator>
  <cp:lastModifiedBy>Vipparla, Dharan Teja</cp:lastModifiedBy>
  <cp:revision>1</cp:revision>
  <dcterms:created xsi:type="dcterms:W3CDTF">2026-06-16T12:15:38Z</dcterms:created>
  <dcterms:modified xsi:type="dcterms:W3CDTF">2026-06-16T13:31:32Z</dcterms:modified>
</cp:coreProperties>
</file>